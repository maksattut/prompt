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 курс через управленческую пользу: участник уйдет не с теорией, а с одним рабочим процессом.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мы не обучаем “магическим словам”. Мы учим проектировать результат и контроль.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маршрут. Участники должны понимать, где они находятся и зачем следующая практика.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группу: где в вашей работе сейчас ИИ чаще всего угадывает?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Попросить участников назвать элемент, который они чаще всего забывают.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первое заполнение в рабочей тетради. Не давайте группе уходить в промпты раньше карты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обсуждать правильность 8%. Обсудить структуру постановки.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пример: без источников модель может добавить неподтвержденный факт.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снимает риск слишком раннего ответа.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Попросить участников вспомнить свои “хорошие образцы”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чем выше цена ошибки, тем сильнее должен быть контур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пример управленческой записки, где рекомендация выдается как факт.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“процесс” легче улучшать и делегировать.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важный управленческий и этический блок.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Повторить правило перед каждой практикой.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Использовать любой безопасный кейс: затраты, отчет, письмо, план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Напомнить про HTML-тетрадь и кнопки копирования шаблонов.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Контролировать время: 10 минут и 8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Заставить отделять факты от выводов.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Вывести на экран простой пример карты процесса.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Объяснить, что участник может использовать тетрадь и карточки запросов.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спорить субъективно: возвращаться к наблюдаемым признакам в рубрике.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мост от обучения к изменению реальной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Финальное закрепление и ответы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ПРОМПТ-ИНЖИНИРИНГ ДЛЯ РУКОВОДИТЕЛЕЙ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3232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AI Practicum 3.1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13232" y="1920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первого запроса к управляемому рабочему процессу с ИИ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4251960"/>
            <a:ext cx="1600200" cy="530352"/>
          </a:xfrm>
          <a:prstGeom prst="rect">
            <a:avLst/>
          </a:prstGeom>
          <a:solidFill>
            <a:srgbClr val="173C5A"/>
          </a:solidFill>
          <a:ln>
            <a:solidFill>
              <a:srgbClr val="173C5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404872" y="4370832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70632" y="4251960"/>
            <a:ext cx="1600200" cy="530352"/>
          </a:xfrm>
          <a:prstGeom prst="rect">
            <a:avLst/>
          </a:prstGeom>
          <a:solidFill>
            <a:srgbClr val="173C5A"/>
          </a:solidFill>
          <a:ln>
            <a:solidFill>
              <a:srgbClr val="173C5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462272" y="4370832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28032" y="4251960"/>
            <a:ext cx="1600200" cy="530352"/>
          </a:xfrm>
          <a:prstGeom prst="rect">
            <a:avLst/>
          </a:prstGeom>
          <a:solidFill>
            <a:srgbClr val="173C5A"/>
          </a:solidFill>
          <a:ln>
            <a:solidFill>
              <a:srgbClr val="173C5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19672" y="4370832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85432" y="4251960"/>
            <a:ext cx="1600200" cy="530352"/>
          </a:xfrm>
          <a:prstGeom prst="rect">
            <a:avLst/>
          </a:prstGeom>
          <a:solidFill>
            <a:srgbClr val="1B9AAA"/>
          </a:solidFill>
          <a:ln>
            <a:solidFill>
              <a:srgbClr val="173C5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77072" y="4370832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942832" y="4251960"/>
            <a:ext cx="1600200" cy="530352"/>
          </a:xfrm>
          <a:prstGeom prst="rect">
            <a:avLst/>
          </a:prstGeom>
          <a:solidFill>
            <a:srgbClr val="173C5A"/>
          </a:solidFill>
          <a:ln>
            <a:solidFill>
              <a:srgbClr val="173C5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идея: ИИ ускоряет работу, но качество обеспечивает управляемый процесс.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109960" y="63276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руководитель получит после курса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набор фраз, а рабочий стандарт применения ИИ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Поставить задачу так, чтобы результат можно было проверить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Дать контекст, ограничения, формат и критерии качества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Разложить сложную работу на этапы и контрольные точки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независимую проверку и исправление ответа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502920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6304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повторяемый AI-процесс с решением человека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43800" y="1965960"/>
            <a:ext cx="3246120" cy="2423160"/>
          </a:xfrm>
          <a:prstGeom prst="rect">
            <a:avLst/>
          </a:prstGeom>
          <a:solidFill>
            <a:srgbClr val="FFF3D7"/>
          </a:solidFill>
          <a:ln w="15240">
            <a:solidFill>
              <a:srgbClr val="F2B8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артефакт курса</a:t>
            </a:r>
            <a:endParaRPr lang="en-US" sz="1850" dirty="0"/>
          </a:p>
          <a:p>
            <a:pPr algn="ctr" indent="0" marL="0">
              <a:buNone/>
            </a:pP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запрос + карта процесса + чек-лист проверки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курса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блок завершает практическим действием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530352" cy="530352"/>
          </a:xfrm>
          <a:prstGeom prst="rect">
            <a:avLst/>
          </a:prstGeom>
          <a:solidFill>
            <a:srgbClr val="0E4C81"/>
          </a:solidFill>
          <a:ln>
            <a:solidFill>
              <a:srgbClr val="0E4C8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формула, термины, слабый/сильный запрос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2395728" y="1975104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53512" y="1828800"/>
            <a:ext cx="530352" cy="530352"/>
          </a:xfrm>
          <a:prstGeom prst="rect">
            <a:avLst/>
          </a:prstGeom>
          <a:solidFill>
            <a:srgbClr val="0E4C81"/>
          </a:solidFill>
          <a:ln>
            <a:solidFill>
              <a:srgbClr val="0E4C8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53512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Увидеть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53512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живые примеры и разбор ошибок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4663440" y="1975104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21224" y="1828800"/>
            <a:ext cx="530352" cy="530352"/>
          </a:xfrm>
          <a:prstGeom prst="rect">
            <a:avLst/>
          </a:prstGeom>
          <a:solidFill>
            <a:srgbClr val="0E4C81"/>
          </a:solidFill>
          <a:ln>
            <a:solidFill>
              <a:srgbClr val="0E4C8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21224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21224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практик в рабочей тетради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931152" y="1975104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88936" y="1828800"/>
            <a:ext cx="530352" cy="530352"/>
          </a:xfrm>
          <a:prstGeom prst="rect">
            <a:avLst/>
          </a:prstGeom>
          <a:solidFill>
            <a:srgbClr val="0E4C81"/>
          </a:solidFill>
          <a:ln>
            <a:solidFill>
              <a:srgbClr val="0E4C8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88936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88936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независимая критика и безопасность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9198864" y="1975104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756648" y="1828800"/>
            <a:ext cx="530352" cy="530352"/>
          </a:xfrm>
          <a:prstGeom prst="rect">
            <a:avLst/>
          </a:prstGeom>
          <a:solidFill>
            <a:srgbClr val="0E4C81"/>
          </a:solidFill>
          <a:ln>
            <a:solidFill>
              <a:srgbClr val="0E4C81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756648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Внедрить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756648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экзамен и 7-дневный план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1143000" y="5074920"/>
            <a:ext cx="91440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обучения: теория → пример → разбор → практика → проверка → перенос в работу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сдвиг мышления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“что спросить?” к “какой результат нужен?”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480560" cy="2560320"/>
          </a:xfrm>
          <a:prstGeom prst="rect">
            <a:avLst/>
          </a:prstGeom>
          <a:solidFill>
            <a:srgbClr val="FFF1F2"/>
          </a:solidFill>
          <a:ln w="16510">
            <a:solidFill>
              <a:srgbClr val="B23A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Слабый подход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“Напиши мне что-нибудь по теме”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Риск: красивый текст без управленческой ценности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4480560" cy="2560320"/>
          </a:xfrm>
          <a:prstGeom prst="rect">
            <a:avLst/>
          </a:prstGeom>
          <a:solidFill>
            <a:srgbClr val="EFFAF4"/>
          </a:solidFill>
          <a:ln w="16510">
            <a:solidFill>
              <a:srgbClr val="2E7D3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Профессиональный подход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“Подготовь результат для конкретного решения, по правилам, в нужном формате, с проверкой”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5074920"/>
            <a:ext cx="987552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не должен угадывать управленческий смысл. Его задает руководитель.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формула курса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элементов превращают запрос в управляемый процесс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1911096" y="2221992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48840" y="205740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3557016" y="2221992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4760" y="205740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5202936" y="2221992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205740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848856" y="2221992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05740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8494776" y="2221992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32520" y="2057400"/>
            <a:ext cx="1325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10140696" y="2221992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78440" y="2057400"/>
            <a:ext cx="1325880" cy="640080"/>
          </a:xfrm>
          <a:prstGeom prst="rect">
            <a:avLst/>
          </a:prstGeom>
          <a:solidFill>
            <a:srgbClr val="0E4C81"/>
          </a:solidFill>
          <a:ln w="12700"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502920" y="297180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результат нужен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2148840" y="297180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факты и границы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3794760" y="297180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сделать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440680" y="297180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нельзя нарушать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7086600" y="297180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выдать результат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8732520" y="297180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проверить качество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10378440" y="297180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принимает итог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1097280" y="4846320"/>
            <a:ext cx="9784080" cy="685800"/>
          </a:xfrm>
          <a:prstGeom prst="rect">
            <a:avLst/>
          </a:prstGeom>
          <a:solidFill>
            <a:srgbClr val="FFF3D7"/>
          </a:solidFill>
          <a:ln w="12700">
            <a:solidFill>
              <a:srgbClr val="F2B8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Запомнить: хороший промпт - это не длинный текст. Это ясная управленческая постановка с проверкой.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1. Карта задачи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запросом нужно определить управленческий результат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Какой результат нужен?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63640" y="1691640"/>
            <a:ext cx="4800600" cy="658368"/>
          </a:xfrm>
          <a:prstGeom prst="rect">
            <a:avLst/>
          </a:prstGeom>
          <a:solidFill>
            <a:srgbClr val="EAF3F7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Кому он нужен?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Какое решение он поддержит?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63640" y="2834640"/>
            <a:ext cx="4800600" cy="658368"/>
          </a:xfrm>
          <a:prstGeom prst="rect">
            <a:avLst/>
          </a:prstGeom>
          <a:solidFill>
            <a:srgbClr val="EAF3F7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Что известно как факт?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Что нельзя нарушать?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3977640"/>
            <a:ext cx="4800600" cy="658368"/>
          </a:xfrm>
          <a:prstGeom prst="rect">
            <a:avLst/>
          </a:prstGeom>
          <a:solidFill>
            <a:srgbClr val="EAF3F7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Как проверить качество?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5486400"/>
            <a:ext cx="100126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ответ на эти вопросы неясен, ИИ будет компенсировать пробелы догадками.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анализ затрат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и тот же запрос может дать разные уровни управляемости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389120" cy="2011680"/>
          </a:xfrm>
          <a:prstGeom prst="rect">
            <a:avLst/>
          </a:prstGeom>
          <a:solidFill>
            <a:srgbClr val="FFF1F2"/>
          </a:solidFill>
          <a:ln w="15240">
            <a:solidFill>
              <a:srgbClr val="B23A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“Предложи план сокращения затрат”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15000" y="1417320"/>
            <a:ext cx="5440680" cy="2651760"/>
          </a:xfrm>
          <a:prstGeom prst="rect">
            <a:avLst/>
          </a:prstGeom>
          <a:solidFill>
            <a:srgbClr val="EFFAF4"/>
          </a:solidFill>
          <a:ln w="15240">
            <a:solidFill>
              <a:srgbClr val="2E7D3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</a:t>
            </a:r>
            <a:endParaRPr lang="en-US" sz="1750" dirty="0"/>
          </a:p>
          <a:p>
            <a:pPr algn="ctr" indent="0" marL="0">
              <a:buNone/>
            </a:pP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“Цель - снизить операционные расходы на 8% за 6 месяцев без сокращения критических функций. Дай 3 сценария: эффект, риски, данные для проверки и первые шаги.”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05840" y="5029200"/>
            <a:ext cx="99669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изменилось: цель, горизонт, ограничение, формат, критерии проверки.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2. Контекст и границы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сильнее “красивых слов”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971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Факты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точно известно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26280" y="1691640"/>
            <a:ext cx="2971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взяты данные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0" y="1691640"/>
            <a:ext cx="2971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сроки, объем, запреты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2971800" cy="822960"/>
          </a:xfrm>
          <a:prstGeom prst="rect">
            <a:avLst/>
          </a:prstGeom>
          <a:solidFill>
            <a:srgbClr val="EAF3F7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Запреты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нельзя использовать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6280" y="3108960"/>
            <a:ext cx="2971800" cy="822960"/>
          </a:xfrm>
          <a:prstGeom prst="rect">
            <a:avLst/>
          </a:prstGeom>
          <a:solidFill>
            <a:srgbClr val="EAF3F7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Тон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деловой, спокойный, краткий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0" y="3108960"/>
            <a:ext cx="2971800" cy="822960"/>
          </a:xfrm>
          <a:prstGeom prst="rect">
            <a:avLst/>
          </a:prstGeom>
          <a:solidFill>
            <a:srgbClr val="EAF3F7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таблица, записка, план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5166360"/>
            <a:ext cx="10149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“используй только приложенные материалы” лучше, чем “сделай как эксперт”.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3. Сначала план, потом ответ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Сложную работу нельзя отдавать одним гигантским запросом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11680" y="2313432"/>
            <a:ext cx="256032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14600" y="2148840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Неизвестные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86200" y="2313432"/>
            <a:ext cx="256032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89120" y="2148840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760720" y="2313432"/>
            <a:ext cx="256032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63640" y="2148840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35240" y="2313432"/>
            <a:ext cx="256032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38160" y="2148840"/>
            <a:ext cx="1298448" cy="713232"/>
          </a:xfrm>
          <a:prstGeom prst="rect">
            <a:avLst/>
          </a:prstGeom>
          <a:solidFill>
            <a:srgbClr val="FFF3D7"/>
          </a:solidFill>
          <a:ln w="12700">
            <a:solidFill>
              <a:srgbClr val="F2B8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1-й этап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509760" y="2313432"/>
            <a:ext cx="256032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12680" y="2148840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9464040" cy="1143000"/>
          </a:xfrm>
          <a:prstGeom prst="rect">
            <a:avLst/>
          </a:prstGeom>
          <a:solidFill>
            <a:srgbClr val="EAF3F7"/>
          </a:solidFill>
          <a:ln w="15240">
            <a:solidFill>
              <a:srgbClr val="1B9AA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Готовая команда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“Не решай задачу сразу. Сначала предложи план работы, неизвестные, данные, риски и критерии качества. После моего подтверждения выполни первый этап.”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4. Примеры как стандарт качества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лучше понимает качество, когда видит образцы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Дайте 2-3 хороших примера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17720" y="1874520"/>
            <a:ext cx="2926080" cy="914400"/>
          </a:xfrm>
          <a:prstGeom prst="rect">
            <a:avLst/>
          </a:prstGeom>
          <a:solidFill>
            <a:srgbClr val="EAF3F7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Попросите вывести правила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66760" y="1874520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Проверьте на новом случае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102412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Подходит для писем, классификации обращений, управленческих записок, регламентов и отчетов.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03120" y="4846320"/>
            <a:ext cx="7955280" cy="594360"/>
          </a:xfrm>
          <a:prstGeom prst="rect">
            <a:avLst/>
          </a:prstGeom>
          <a:solidFill>
            <a:srgbClr val="FFF3D7"/>
          </a:solidFill>
          <a:ln w="12700">
            <a:solidFill>
              <a:srgbClr val="F2B8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Команда: “Неочевидные случаи отметь для проверки человеком.”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5. Контур проверки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ИИ должен пройти независимую критику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508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350008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017520" y="1920240"/>
            <a:ext cx="1508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ошибок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0288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257800" y="1920240"/>
            <a:ext cx="1508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фактов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30568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0" y="1920240"/>
            <a:ext cx="1508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Исправление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070848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738360" y="1920240"/>
            <a:ext cx="1508760" cy="960120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человека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43000" y="3977640"/>
            <a:ext cx="9784080" cy="731520"/>
          </a:xfrm>
          <a:prstGeom prst="rect">
            <a:avLst/>
          </a:prstGeom>
          <a:solidFill>
            <a:srgbClr val="EAF3F7"/>
          </a:solidFill>
          <a:ln w="12700">
            <a:solidFill>
              <a:srgbClr val="1B9AA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Проверяем: факты, источники, расчеты, логические переходы, допущения, полноту и соответствие задаче.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Факты, выводы и рекомендации нельзя смешивать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один из главных управленческих рисков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2743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известно из данных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09160" y="1874520"/>
            <a:ext cx="2743200" cy="1097280"/>
          </a:xfrm>
          <a:prstGeom prst="rect">
            <a:avLst/>
          </a:prstGeom>
          <a:solidFill>
            <a:srgbClr val="EAF3F7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 следует из фактов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49640" y="1874520"/>
            <a:ext cx="2743200" cy="1097280"/>
          </a:xfrm>
          <a:prstGeom prst="rect">
            <a:avLst/>
          </a:prstGeom>
          <a:solidFill>
            <a:srgbClr val="FFF3D7"/>
          </a:solidFill>
          <a:ln>
            <a:solidFill>
              <a:srgbClr val="F2B8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действие, которое можно рассмотреть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4160520"/>
            <a:ext cx="996696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для ИИ: “Раздели материал на факты, допущения, выводы и рекомендации. Для фактов укажи источник, для допущений - как проверить.”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процесс с ИИ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задача повторяется, запрос должен стать процессом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1426464" cy="841248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Входные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84248" y="234086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04872" y="2057400"/>
            <a:ext cx="1426464" cy="841248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86200" y="234086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06824" y="2057400"/>
            <a:ext cx="1426464" cy="841248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88152" y="234086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08776" y="2057400"/>
            <a:ext cx="1426464" cy="841248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90104" y="234086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10728" y="2057400"/>
            <a:ext cx="1426464" cy="841248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92056" y="2340864"/>
            <a:ext cx="24688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12680" y="2057400"/>
            <a:ext cx="1426464" cy="841248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Выходной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данные по продажам -&gt; анализ отклонений -&gt; вопросы -&gt; записка -&gt; проверка -&gt; решение руководителя.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должен остановиться ИИ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Существенное решение остается за человеком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4206240" cy="3063240"/>
          </a:xfrm>
          <a:prstGeom prst="rect">
            <a:avLst/>
          </a:prstGeom>
          <a:solidFill>
            <a:srgbClr val="EAF3F7"/>
          </a:solidFill>
          <a:ln w="15240">
            <a:solidFill>
              <a:srgbClr val="1B9AA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может подготовить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варианты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риски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вопросы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черновик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проверку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95160" y="1691640"/>
            <a:ext cx="4206240" cy="3063240"/>
          </a:xfrm>
          <a:prstGeom prst="rect">
            <a:avLst/>
          </a:prstGeom>
          <a:solidFill>
            <a:srgbClr val="FFF3D7"/>
          </a:solidFill>
          <a:ln w="15240">
            <a:solidFill>
              <a:srgbClr val="F2B8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утверждает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цель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источник данных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допустимый риск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финальное решение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ответственность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5303520"/>
            <a:ext cx="97840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экзамене участник обязан указать точку человеческого решения.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данных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проводится только на разрешенных и безопасных данных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154680" cy="2057400"/>
          </a:xfrm>
          <a:prstGeom prst="rect">
            <a:avLst/>
          </a:prstGeom>
          <a:solidFill>
            <a:srgbClr val="FFF1F2"/>
          </a:solidFill>
          <a:ln w="15240">
            <a:solidFill>
              <a:srgbClr val="B23A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вводить</a:t>
            </a:r>
            <a:endParaRPr lang="en-US" sz="1650" dirty="0"/>
          </a:p>
          <a:p>
            <a:pPr algn="ctr" indent="0" marL="0">
              <a:buNone/>
            </a:pP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данные, пароли, ключи, коммерческую тайну, закрытые документы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617720" y="1828800"/>
            <a:ext cx="3154680" cy="2057400"/>
          </a:xfrm>
          <a:prstGeom prst="rect">
            <a:avLst/>
          </a:prstGeom>
          <a:solidFill>
            <a:srgbClr val="EFFAF4"/>
          </a:solidFill>
          <a:ln w="15240">
            <a:solidFill>
              <a:srgbClr val="2E7D3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использовать</a:t>
            </a:r>
            <a:endParaRPr lang="en-US" sz="1650" dirty="0"/>
          </a:p>
          <a:p>
            <a:pPr algn="ctr" indent="0" marL="0">
              <a:buNone/>
            </a:pP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обезличенные примеры, учебные кейсы, публичные данные, корпоративно разрешенные инструменты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66760" y="1828800"/>
            <a:ext cx="3154680" cy="2057400"/>
          </a:xfrm>
          <a:prstGeom prst="rect">
            <a:avLst/>
          </a:prstGeom>
          <a:solidFill>
            <a:srgbClr val="EAF3F7"/>
          </a:solidFill>
          <a:ln w="15240">
            <a:solidFill>
              <a:srgbClr val="1B9AA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фиксировать</a:t>
            </a:r>
            <a:endParaRPr lang="en-US" sz="1650" dirty="0"/>
          </a:p>
          <a:p>
            <a:pPr algn="ctr" indent="0" marL="0">
              <a:buNone/>
            </a:pP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данные использованы, что не подтверждено, где нужна проверка человеком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97280" y="5074920"/>
            <a:ext cx="99669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- не отдельный слайд, а правило каждой практики.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Живая демонстрация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ведущий показывает улучшение результата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920240" cy="731520"/>
          </a:xfrm>
          <a:prstGeom prst="rect">
            <a:avLst/>
          </a:prstGeom>
          <a:solidFill>
            <a:srgbClr val="FFF1F2"/>
          </a:solidFill>
          <a:ln>
            <a:solidFill>
              <a:srgbClr val="B23A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слабая просьба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71800" y="1828800"/>
            <a:ext cx="1920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задачи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1828800"/>
            <a:ext cx="1920240" cy="731520"/>
          </a:xfrm>
          <a:prstGeom prst="rect">
            <a:avLst/>
          </a:prstGeom>
          <a:solidFill>
            <a:srgbClr val="EAF3F7"/>
          </a:solidFill>
          <a:ln>
            <a:solidFill>
              <a:srgbClr val="1B9AA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сильный запрос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69480" y="1828800"/>
            <a:ext cx="1920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ИИ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8320" y="1828800"/>
            <a:ext cx="1920240" cy="731520"/>
          </a:xfrm>
          <a:prstGeom prst="rect">
            <a:avLst/>
          </a:prstGeom>
          <a:solidFill>
            <a:srgbClr val="FFF3D7"/>
          </a:solidFill>
          <a:ln>
            <a:solidFill>
              <a:srgbClr val="F2B8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5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99669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после демонстрации: что именно сделало результат управляемым?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188720" y="4892040"/>
            <a:ext cx="9784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Ответы участников фиксируются на доске: цель, контекст, ограничения, формат, критерии, проверка.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практической лаборатории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Работаем на телефоне или ноутбуке, но с безопасной задачей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" y="1874520"/>
            <a:ext cx="20574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задача, потом запрос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03320" y="1874520"/>
            <a:ext cx="2057400" cy="1325880"/>
          </a:xfrm>
          <a:prstGeom prst="rect">
            <a:avLst/>
          </a:prstGeom>
          <a:solidFill>
            <a:srgbClr val="EAF3F7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ответ проходит проверку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55080" y="1874520"/>
            <a:ext cx="20574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используем закрытые данные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006840" y="1874520"/>
            <a:ext cx="2057400" cy="1325880"/>
          </a:xfrm>
          <a:prstGeom prst="rect">
            <a:avLst/>
          </a:prstGeom>
          <a:solidFill>
            <a:srgbClr val="EAF3F7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Фиксируем, что забираем в работу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4434840"/>
            <a:ext cx="9692640" cy="731520"/>
          </a:xfrm>
          <a:prstGeom prst="rect">
            <a:avLst/>
          </a:prstGeom>
          <a:solidFill>
            <a:srgbClr val="FFF3D7"/>
          </a:solidFill>
          <a:ln>
            <a:solidFill>
              <a:srgbClr val="F2B8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каждой практики ответьте: что изменилось, почему, что проверить и можно ли повторить процесс?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Практики 1-2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управляем постановкой, затем декомпозицией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489204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1. Перепрошивка задачи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Заполнить: цель -&gt; контекст -&gt; действие -&gt; ограничения -&gt; формат -&gt; критерии.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с исходной формулировкой.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4892040" cy="3200400"/>
          </a:xfrm>
          <a:prstGeom prst="rect">
            <a:avLst/>
          </a:prstGeom>
          <a:solidFill>
            <a:srgbClr val="EAF3F7"/>
          </a:solidFill>
          <a:ln>
            <a:solidFill>
              <a:srgbClr val="1B9AA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2. Сначала план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Попросить ИИ не решать задачу.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этапы, неизвестные, данные, риски и критерии качества.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5394960"/>
            <a:ext cx="96012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Разбор: один пример от группы, 3 минуты по рубрике.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Практики 3-4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качества и независимая критика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489204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3. Примеры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Дать 2-3 хороших примера.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Попросить вывести правила качества.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на новом случае.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4892040" cy="3200400"/>
          </a:xfrm>
          <a:prstGeom prst="rect">
            <a:avLst/>
          </a:prstGeom>
          <a:solidFill>
            <a:srgbClr val="FFF3D7"/>
          </a:solidFill>
          <a:ln>
            <a:solidFill>
              <a:srgbClr val="F2B8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4. Критическая проверка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ошибки, слабые допущения, пропуски и противоречия.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Исправить результат.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5394960"/>
            <a:ext cx="99669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Разбор: не “понравилось/не понравилось”, а “можно ли применить и проверить”.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5. Собственный рабочий процесс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сборка перед экзаменом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5087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87168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63240" y="2057400"/>
            <a:ext cx="15087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Шаги ИИ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36008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2057400"/>
            <a:ext cx="15087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84848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0920" y="2057400"/>
            <a:ext cx="1508760" cy="822960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человека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33688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0" y="2057400"/>
            <a:ext cx="15087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160520"/>
            <a:ext cx="9784080" cy="731520"/>
          </a:xfrm>
          <a:prstGeom prst="rect">
            <a:avLst/>
          </a:prstGeom>
          <a:solidFill>
            <a:srgbClr val="EAF3F7"/>
          </a:solidFill>
          <a:ln>
            <a:solidFill>
              <a:srgbClr val="1B9AA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 готовности: процесс можно повторить на втором примере и объяснить сотруднику за 3 минуты.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практический экзамен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Оцениваем артефакт и процесс, а не литературный стиль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2240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исходная задача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520440" y="1508760"/>
            <a:ext cx="2240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профессиональный запрос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2240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результат ИИ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098280" y="1508760"/>
            <a:ext cx="2240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независимая проверка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2240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исправление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2402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карта процесса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09360" y="2926080"/>
            <a:ext cx="2240280" cy="777240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решение человека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Время: 25-30 минут. Порог: 75/100. Нарушение безопасности требует исправления.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Рубрика оценки 100 баллов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Прозрачная оценка до начала экзамена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38404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800600" y="1417320"/>
            <a:ext cx="685800" cy="512064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26480" y="1417320"/>
            <a:ext cx="38404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и ограничения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104120" y="1417320"/>
            <a:ext cx="685800" cy="512064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2221992"/>
            <a:ext cx="38404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запроса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800600" y="2221992"/>
            <a:ext cx="685800" cy="512064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126480" y="2221992"/>
            <a:ext cx="38404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Декомпозиция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104120" y="2221992"/>
            <a:ext cx="685800" cy="512064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3026664"/>
            <a:ext cx="38404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800600" y="3026664"/>
            <a:ext cx="685800" cy="512064"/>
          </a:xfrm>
          <a:prstGeom prst="rect">
            <a:avLst/>
          </a:prstGeom>
          <a:solidFill>
            <a:srgbClr val="1B9AAA"/>
          </a:solidFill>
          <a:ln>
            <a:solidFill>
              <a:srgbClr val="1B9AA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126480" y="3026664"/>
            <a:ext cx="38404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Применимость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104120" y="3026664"/>
            <a:ext cx="685800" cy="512064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3831336"/>
            <a:ext cx="38404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800600" y="3831336"/>
            <a:ext cx="685800" cy="512064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97280" y="5257800"/>
            <a:ext cx="9966960" cy="594360"/>
          </a:xfrm>
          <a:prstGeom prst="rect">
            <a:avLst/>
          </a:prstGeom>
          <a:solidFill>
            <a:srgbClr val="FFF3D7"/>
          </a:solidFill>
          <a:ln>
            <a:solidFill>
              <a:srgbClr val="F2B8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успешного прохождения - 75/100. Уровни описывают освоение навыка, а не личность участника.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внедрения на 7 дней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курса процесс должен начать работать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530352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234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задачу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1856232" y="1965960"/>
            <a:ext cx="228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21992" y="1828800"/>
            <a:ext cx="530352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21992" y="2514600"/>
            <a:ext cx="1234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Описать вход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3483864" y="1965960"/>
            <a:ext cx="228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9624" y="1828800"/>
            <a:ext cx="530352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9624" y="2514600"/>
            <a:ext cx="1234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процесс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5111496" y="1965960"/>
            <a:ext cx="228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77256" y="1828800"/>
            <a:ext cx="530352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77256" y="2514600"/>
            <a:ext cx="1234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на 2-м примере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6739128" y="1965960"/>
            <a:ext cx="228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04888" y="1828800"/>
            <a:ext cx="530352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04888" y="2514600"/>
            <a:ext cx="1234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контроль</a:t>
            </a:r>
            <a:endParaRPr lang="en-US" sz="1270" dirty="0"/>
          </a:p>
        </p:txBody>
      </p:sp>
      <p:sp>
        <p:nvSpPr>
          <p:cNvPr id="21" name="Text 19"/>
          <p:cNvSpPr/>
          <p:nvPr/>
        </p:nvSpPr>
        <p:spPr>
          <a:xfrm>
            <a:off x="8366760" y="1965960"/>
            <a:ext cx="228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1828800"/>
            <a:ext cx="530352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32520" y="2514600"/>
            <a:ext cx="1234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Упростить шаги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9994392" y="1965960"/>
            <a:ext cx="228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60152" y="1828800"/>
            <a:ext cx="530352" cy="502920"/>
          </a:xfrm>
          <a:prstGeom prst="rect">
            <a:avLst/>
          </a:prstGeom>
          <a:solidFill>
            <a:srgbClr val="0E4C81"/>
          </a:solidFill>
          <a:ln>
            <a:solidFill>
              <a:srgbClr val="0E4C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360152" y="2514600"/>
            <a:ext cx="1234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Зафиксировать стандарт</a:t>
            </a:r>
            <a:endParaRPr lang="en-US" sz="1270" dirty="0"/>
          </a:p>
        </p:txBody>
      </p:sp>
      <p:sp>
        <p:nvSpPr>
          <p:cNvPr id="27" name="Text 25"/>
          <p:cNvSpPr/>
          <p:nvPr/>
        </p:nvSpPr>
        <p:spPr>
          <a:xfrm>
            <a:off x="1005840" y="4572000"/>
            <a:ext cx="10241280" cy="713232"/>
          </a:xfrm>
          <a:prstGeom prst="rect">
            <a:avLst/>
          </a:prstGeom>
          <a:solidFill>
            <a:srgbClr val="EAF3F7"/>
          </a:solidFill>
          <a:ln>
            <a:solidFill>
              <a:srgbClr val="1B9AA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 недели: короткий стандарт работы с ИИ, который можно передать сотруднику и улучшать по фактам.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формула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должно остаться у участника в голове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52728"/>
            <a:ext cx="1097280" cy="54864"/>
          </a:xfrm>
          <a:prstGeom prst="rect">
            <a:avLst/>
          </a:prstGeom>
          <a:solidFill>
            <a:srgbClr val="1B9AAA"/>
          </a:solidFill>
          <a:ln>
            <a:solidFill>
              <a:srgbClr val="1B9AA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Executive Practicum 3.1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9875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9E3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Хороший промпт дает хороший старт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395728"/>
            <a:ext cx="9875520" cy="621792"/>
          </a:xfrm>
          <a:prstGeom prst="rect">
            <a:avLst/>
          </a:prstGeom>
          <a:solidFill>
            <a:srgbClr val="EAF3F7"/>
          </a:solidFill>
          <a:ln>
            <a:solidFill>
              <a:srgbClr val="1B9AA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Хороший процесс дает повторяемый результат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3282696"/>
            <a:ext cx="9875520" cy="621792"/>
          </a:xfrm>
          <a:prstGeom prst="rect">
            <a:avLst/>
          </a:prstGeom>
          <a:solidFill>
            <a:srgbClr val="FFF3D7"/>
          </a:solidFill>
          <a:ln>
            <a:solidFill>
              <a:srgbClr val="F2B84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Хорошая проверка снижает риск ошибки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4169664"/>
            <a:ext cx="9875520" cy="621792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и ответственность остаются за человеком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5532120"/>
            <a:ext cx="94183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61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Спасибо. Переходим к вопросам и разбору рабочих процессов участников.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ZETA / Executive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Executive Practicum 3.1</dc:title>
  <dc:subject>Prompt Engineering Executive Practicum 3.1</dc:subject>
  <dc:creator>OpenAI</dc:creator>
  <cp:lastModifiedBy>OpenAI</cp:lastModifiedBy>
  <cp:revision>1</cp:revision>
  <dcterms:created xsi:type="dcterms:W3CDTF">2026-10-01T03:12:38Z</dcterms:created>
  <dcterms:modified xsi:type="dcterms:W3CDTF">2026-10-01T03:12:38Z</dcterms:modified>
</cp:coreProperties>
</file>